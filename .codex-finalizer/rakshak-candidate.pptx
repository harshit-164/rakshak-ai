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3e160ece9e4975" /><Relationship Type="http://schemas.openxmlformats.org/officeDocument/2006/relationships/extended-properties" Target="/docProps/app.xml" Id="R450def06f3bf4234" /><Relationship Type="http://schemas.openxmlformats.org/officeDocument/2006/relationships/officeDocument" Target="/ppt/presentation.xml" Id="R08b79d1e51384f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4be1ade7a44de4"/>
  </p:sldMasterIdLst>
  <p:notesMasterIdLst>
    <p:notesMasterId xmlns:r="http://schemas.openxmlformats.org/officeDocument/2006/relationships" r:id="R2338d031c1a047b8"/>
  </p:notesMasterIdLst>
  <p:sldIdLst>
    <p:sldId xmlns:r="http://schemas.openxmlformats.org/officeDocument/2006/relationships" id="256" r:id="R5cb27e4918d94d46"/>
    <p:sldId xmlns:r="http://schemas.openxmlformats.org/officeDocument/2006/relationships" id="257" r:id="Rcb55f03686b846e7"/>
    <p:sldId xmlns:r="http://schemas.openxmlformats.org/officeDocument/2006/relationships" id="258" r:id="R19c1919cca9c4f20"/>
    <p:sldId xmlns:r="http://schemas.openxmlformats.org/officeDocument/2006/relationships" id="259" r:id="Rbd0d205a9dad48a6"/>
    <p:sldId xmlns:r="http://schemas.openxmlformats.org/officeDocument/2006/relationships" id="260" r:id="Rc3e454d9a09d4ae1"/>
    <p:sldId xmlns:r="http://schemas.openxmlformats.org/officeDocument/2006/relationships" id="261" r:id="R7c2b186e27854b9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0f1a99ec8b74375" /><Relationship Type="http://schemas.openxmlformats.org/officeDocument/2006/relationships/slideMaster" Target="/ppt/slideMasters/slideMaster1.xml" Id="Rc34be1ade7a44de4" /><Relationship Type="http://schemas.openxmlformats.org/officeDocument/2006/relationships/notesMaster" Target="/ppt/notesMasters/notesMaster1.xml" Id="R2338d031c1a047b8" /><Relationship Type="http://schemas.openxmlformats.org/officeDocument/2006/relationships/presProps" Target="/ppt/presProps.xml" Id="R36cdbbc6a3644eaa" /><Relationship Type="http://schemas.openxmlformats.org/officeDocument/2006/relationships/tableStyles" Target="/ppt/tableStyles.xml" Id="Rb91407105cb14770" /><Relationship Type="http://schemas.openxmlformats.org/officeDocument/2006/relationships/slide" Target="/ppt/slides/slide1.xml" Id="R5cb27e4918d94d46" /><Relationship Type="http://schemas.openxmlformats.org/officeDocument/2006/relationships/slide" Target="/ppt/slides/slide2.xml" Id="Rcb55f03686b846e7" /><Relationship Type="http://schemas.openxmlformats.org/officeDocument/2006/relationships/slide" Target="/ppt/slides/slide3.xml" Id="R19c1919cca9c4f20" /><Relationship Type="http://schemas.openxmlformats.org/officeDocument/2006/relationships/slide" Target="/ppt/slides/slide4.xml" Id="Rbd0d205a9dad48a6" /><Relationship Type="http://schemas.openxmlformats.org/officeDocument/2006/relationships/slide" Target="/ppt/slides/slide5.xml" Id="Rc3e454d9a09d4ae1" /><Relationship Type="http://schemas.openxmlformats.org/officeDocument/2006/relationships/slide" Target="/ppt/slides/slide6.xml" Id="R7c2b186e27854b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3d3d2bb78542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d8a70c16fb4e4f" /><Relationship Type="http://schemas.openxmlformats.org/officeDocument/2006/relationships/notesMaster" Target="/ppt/notesMasters/notesMaster1.xml" Id="R69f36c2afcda45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43bb981b43497a" /><Relationship Type="http://schemas.openxmlformats.org/officeDocument/2006/relationships/notesMaster" Target="/ppt/notesMasters/notesMaster1.xml" Id="R747f06b09a164f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5a8bc9c1f642ab" /><Relationship Type="http://schemas.openxmlformats.org/officeDocument/2006/relationships/notesMaster" Target="/ppt/notesMasters/notesMaster1.xml" Id="R5c10410a281c4a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239a46afa74fc9" /><Relationship Type="http://schemas.openxmlformats.org/officeDocument/2006/relationships/notesMaster" Target="/ppt/notesMasters/notesMaster1.xml" Id="Reeb554cc63044c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835f4c50b24534" /><Relationship Type="http://schemas.openxmlformats.org/officeDocument/2006/relationships/notesMaster" Target="/ppt/notesMasters/notesMaster1.xml" Id="R64bf81e65db942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ebb99f647c49e7" /><Relationship Type="http://schemas.openxmlformats.org/officeDocument/2006/relationships/notesMaster" Target="/ppt/notesMasters/notesMaster1.xml" Id="Rd004caa282864c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local Rakshak AI repository and running prototype captured on 2026-09-07. GitHub: https://github.com/harshit-164/Rakshak-AI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apps/web/app/analyze/analyze-form.tsx; services/api/app/validation.py; services/api/app/contracts.py. Prototype screenshot captured from the local app on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evidence: README.md; apps/web/app/lib/safeguard-api.ts; services/api/app/routes.py; services/api/app/worker.py; services/api/app/validation.py; supabase/migrations. Model roadmap reflects the user's stated plan and is not presented as completed training.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evidence: services/api/app/worker.py; services/api/app/validation.py; services/api/app/persistence.py; supabase/migrations; configs/references/source-register.v1.json. No production-readiness claim is made.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scorecard defines proposed evaluation metrics. No measured impact results are available in the repository as of 2026-09-07.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accessed 2026-09-07:</a:t>
            </a:r>
          </a:p>
          <a:p xmlns:a="http://schemas.openxmlformats.org/drawingml/2006/main">
            <a:r>
              <a:t>SafeOCS: https://www.bts.gov/browse-statistical-products-and-data/precursor-safety-data-program/offshore-energy-safety-data</a:t>
            </a:r>
          </a:p>
          <a:p xmlns:a="http://schemas.openxmlformats.org/drawingml/2006/main">
            <a:r>
              <a:t>IOGP Life-Saving Rules: https://www.iogp.org/workstreams/safety/safety/life-savingrules/</a:t>
            </a:r>
          </a:p>
          <a:p xmlns:a="http://schemas.openxmlformats.org/drawingml/2006/main">
            <a:r>
              <a:t>Automatically Learning Construction Injury Precursors from Text: https://arxiv.org/abs/1907.11769</a:t>
            </a:r>
          </a:p>
          <a:p xmlns:a="http://schemas.openxmlformats.org/drawingml/2006/main">
            <a:r>
              <a:t>Petrobras 3W: https://github.com/petrobras/3W</a:t>
            </a:r>
          </a:p>
          <a:p xmlns:a="http://schemas.openxmlformats.org/drawingml/2006/main">
            <a:r>
              <a:t>Internal rights register: configs/references/source-register.v1.json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853a4743e4a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7e729cd953448b" /><Relationship Type="http://schemas.openxmlformats.org/officeDocument/2006/relationships/slideLayout" Target="/ppt/slideLayouts/slideLayout1.xml" Id="Rcf41c800101a4b9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41c800101a4b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218826a29a4d0e" /><Relationship Type="http://schemas.openxmlformats.org/officeDocument/2006/relationships/image" Target="/ppt/media/image.png" Id="Rb5edc5b830e74bce" /><Relationship Type="http://schemas.openxmlformats.org/officeDocument/2006/relationships/image" Target="/ppt/media/image2.png" Id="Rffa91adfabf74983" /><Relationship Type="http://schemas.openxmlformats.org/officeDocument/2006/relationships/image" Target="/ppt/media/image.jpeg" Id="Ra4c908b6dc96416d" /><Relationship Type="http://schemas.openxmlformats.org/officeDocument/2006/relationships/hyperlink" Target="https://github.com/harshit-164/Rakshak-AI" TargetMode="External" Id="R23ebc609f0bd4920" /><Relationship Type="http://schemas.openxmlformats.org/officeDocument/2006/relationships/notesSlide" Target="/ppt/notesSlides/notesSlide1.xml" Id="R3fbd6472f59c48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0be780c794a28" /><Relationship Type="http://schemas.openxmlformats.org/officeDocument/2006/relationships/image" Target="/ppt/media/image3.png" Id="R968b3044167f49e4" /><Relationship Type="http://schemas.openxmlformats.org/officeDocument/2006/relationships/image" Target="/ppt/media/image2.jpeg" Id="R4c181b956b0d41f3" /><Relationship Type="http://schemas.openxmlformats.org/officeDocument/2006/relationships/notesSlide" Target="/ppt/notesSlides/notesSlide2.xml" Id="Ra563bddbb15041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7fd71b86d40e8" /><Relationship Type="http://schemas.openxmlformats.org/officeDocument/2006/relationships/image" Target="/ppt/media/image4.png" Id="Re339a5bd24de4bb1" /><Relationship Type="http://schemas.openxmlformats.org/officeDocument/2006/relationships/notesSlide" Target="/ppt/notesSlides/notesSlide3.xml" Id="Rfaefbcf140714e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2b8a6cf254a83" /><Relationship Type="http://schemas.openxmlformats.org/officeDocument/2006/relationships/image" Target="/ppt/media/image5.png" Id="R6a38445987594824" /><Relationship Type="http://schemas.openxmlformats.org/officeDocument/2006/relationships/notesSlide" Target="/ppt/notesSlides/notesSlide4.xml" Id="R3f0cde65990741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2b2e808a44b85" /><Relationship Type="http://schemas.openxmlformats.org/officeDocument/2006/relationships/image" Target="/ppt/media/image6.png" Id="R7fc8a74f3077460a" /><Relationship Type="http://schemas.openxmlformats.org/officeDocument/2006/relationships/notesSlide" Target="/ppt/notesSlides/notesSlide5.xml" Id="R76b55a0b727541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5e4d76e99447f" /><Relationship Type="http://schemas.openxmlformats.org/officeDocument/2006/relationships/image" Target="/ppt/media/image7.png" Id="R8fcc14f602904c66" /><Relationship Type="http://schemas.openxmlformats.org/officeDocument/2006/relationships/hyperlink" Target="https://www.bts.gov/browse-statistical-products-and-data/precursor-safety-data-program/offshore-energy-safety-data" TargetMode="External" Id="R475942de5514472a" /><Relationship Type="http://schemas.openxmlformats.org/officeDocument/2006/relationships/hyperlink" Target="https://www.iogp.org/workstreams/safety/safety/life-savingrules/" TargetMode="External" Id="R9aa6cafb0dac4fe8" /><Relationship Type="http://schemas.openxmlformats.org/officeDocument/2006/relationships/hyperlink" Target="https://arxiv.org/abs/1907.11769" TargetMode="External" Id="R73fe3402118145ec" /><Relationship Type="http://schemas.openxmlformats.org/officeDocument/2006/relationships/hyperlink" Target="https://github.com/petrobras/3W" TargetMode="External" Id="Rc829d039f2894262" /><Relationship Type="http://schemas.openxmlformats.org/officeDocument/2006/relationships/hyperlink" Target="https://github.com/harshit-164/Rakshak-AI" TargetMode="External" Id="R85bf4e3e77064ee3" /><Relationship Type="http://schemas.openxmlformats.org/officeDocument/2006/relationships/notesSlide" Target="/ppt/notesSlides/notesSlide6.xml" Id="Re38fb96c761e48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15FA7F-8311-4FFF-9046-F3CF2629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edc5b830e74bce"/>
          <a:stretch xmlns:a="http://schemas.openxmlformats.org/drawingml/2006/main"/>
        </p:blipFill>
        <p:spPr>
          <a:xfrm xmlns:a="http://schemas.openxmlformats.org/drawingml/2006/main">
            <a:off x="533400" y="36195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9D4DFE-23A4-4350-B02F-3766C66F4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50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RAKSHAK.AI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a91adfabf74983"/>
          <a:stretch xmlns:a="http://schemas.openxmlformats.org/drawingml/2006/main"/>
        </p:blipFill>
        <p:spPr>
          <a:xfrm xmlns:a="http://schemas.openxmlformats.org/drawingml/2006/main">
            <a:off x="9952716" y="190500"/>
            <a:ext cx="1573442" cy="742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767E5-F9F6-4B84-95E1-88E3B876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SMART INDIA HACKATHON 2026 / TEAM SABLE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640C89-F8F1-4261-940E-37432675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571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20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420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RAKSHAK 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572C9-B51E-46D2-BE0F-9E35CAC4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557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Explainable SIF intelligence from near-miss reports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F1E50-5B35-4F59-94B8-C920EAB1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004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SIH26165  ·  Software  ·  Miscellaneous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74FFB-9ED8-44D8-946F-EEF0F961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052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A reviewer-first prototype that keeps exact evidence visible and uncertainty honest.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E3A12C-F405-4E35-B1EB-C4770761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181100"/>
            <a:ext cx="4972050" cy="33528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908b6dc96416d"/>
          <a:srcRect xmlns:a="http://schemas.openxmlformats.org/drawingml/2006/main" l="7272" t="0" r="72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295400"/>
            <a:ext cx="4743450" cy="3124200"/>
          </a:xfrm>
          <a:prstGeom xmlns:a="http://schemas.openxmlformats.org/drawingml/2006/main" prst="roundRect">
            <a:avLst>
              <a:gd name="adj" fmla="val 4268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D45CC-3708-4931-A24E-CE73ACC2F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191000"/>
            <a:ext cx="2333625" cy="438150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D7FF64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61730-63D3-4766-9EFC-F068177E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314825"/>
            <a:ext cx="2028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WORKING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31BF5-E4F5-4B9C-8194-42368040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86375"/>
            <a:ext cx="2857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1CB59-5D26-4785-9A23-DD4AC718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400" b="1">
                <a:solidFill>
                  <a:srgbClr val="13201E"/>
                </a:solidFill>
              </a:rPr>
              <a:t>LIVE DEMO  </a:t>
            </a:r>
            <a:r>
              <a:rPr sz="1100">
                <a:solidFill>
                  <a:srgbClr val="5C6965"/>
                </a:solidFill>
              </a:rPr>
              <a:t>ADD URL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152D0F-E2BA-4F4F-8891-3DE4DF1B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86375"/>
            <a:ext cx="28575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8C9D9E-BFD9-4F1B-8CAE-0B2FD811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255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400" b="1">
                <a:solidFill>
                  <a:srgbClr val="13201E"/>
                </a:solidFill>
              </a:rPr>
              <a:t>VIDEO GUIDE  </a:t>
            </a:r>
            <a:r>
              <a:rPr sz="1100">
                <a:solidFill>
                  <a:srgbClr val="5C6965"/>
                </a:solidFill>
              </a:rPr>
              <a:t>ADD URL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6742A9-DBEF-4482-9978-DF3DCDE1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86375"/>
            <a:ext cx="49530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23839-018D-4922-A3FD-B3499C87E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91150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400" b="1">
                <a:solidFill>
                  <a:srgbClr val="13201E"/>
                </a:solidFill>
              </a:rPr>
              <a:t>GITHUB  </a:t>
            </a:r>
            <a:r>
              <a:rPr sz="1100" u="sng">
                <a:solidFill>
                  <a:srgbClr val="13201E"/>
                </a:solidFill>
                <a:hlinkClick xmlns:r="http://schemas.openxmlformats.org/officeDocument/2006/relationships" r:id="R23ebc609f0bd4920"/>
              </a:rPr>
              <a:t>github.com/harshit-164/Rakshak-AI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9AD5CB-5122-4A16-81CD-33244D7D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72175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0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Replace the two ADD URL fields before submission.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5D516-B521-4CAC-895B-C246A82E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725E09-41F9-4E84-9C5A-F0F2EEC1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33B9B7-BAFF-4E25-AC6B-2F1E79E4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15261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9597388-5499-4DF6-AA3F-A8EC6CFC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9638C-E215-40B9-90FB-18D65D9C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Idea and live demo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b3044167f49e4"/>
          <a:stretch xmlns:a="http://schemas.openxmlformats.org/drawingml/2006/main"/>
        </p:blipFill>
        <p:spPr>
          <a:xfrm xmlns:a="http://schemas.openxmlformats.org/drawingml/2006/main">
            <a:off x="10179921" y="133350"/>
            <a:ext cx="1452408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19693-142C-44FB-B6DA-4F214C3D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02 / SIH26165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9AD4B-3EDF-4796-9334-72C5CC09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One report becomes a traceable review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4901F-0697-4ADC-94D3-9ECC8F53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952625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AE71A-0593-44BA-9126-ADAD2358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192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A9D99-00E2-4B3C-A98B-D6D5A837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764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80D349-51B5-429E-8A6B-181359B9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Submit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09CE3-8D80-405F-9E10-5C06C719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609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Paste a synthetic or cleared observation. Original text remains unchanged.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D09C91-436B-45F6-A456-5499D3A1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95450"/>
            <a:ext cx="1952625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3DC5E-E60B-404E-8A51-DA365CEB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192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B9345-D0E9-4FEA-BF7F-A939438BB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764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F29DE8-15ED-4258-8659-6D640BB0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097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Analyze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C0A87-BAA2-4322-BB27-58F83354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1609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The engine proposes SIF potential, precursor tags, barriers, and rule context.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46448-477C-4510-9C41-B669F7B3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695450"/>
            <a:ext cx="1952625" cy="1371600"/>
          </a:xfrm>
          <a:prstGeom xmlns:a="http://schemas.openxmlformats.org/drawingml/2006/main" prst="roundRect">
            <a:avLst>
              <a:gd name="adj" fmla="val 9722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1B6CC-4DEA-4415-868D-A4CB5984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192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3CD3A-28B2-4DD0-A531-B27A7412E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8764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1B3067-4B31-4425-B55E-F6F609820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09750"/>
            <a:ext cx="1285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Verify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C89794-6222-4641-8F80-95202EE8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09800"/>
            <a:ext cx="16097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Every evidence quote must exist in the submitted text before the result is saved.</a:t>
            </a:r>
          </a:p>
        </p:txBody>
      </p:sp>
      <p:cxnSp>
        <p:nvCxnSpPr>
          <p:cNvPr id="64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466975" y="23812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tailEnd type="arrow" w="sm" len="sm"/>
          </a:ln>
        </p:spPr>
      </p:cxnSp>
      <p:cxnSp>
        <p:nvCxnSpPr>
          <p:cNvPr id="65" name=""/>
          <p:cNvCxnSpPr>
            <a:stCxn xmlns:a="http://schemas.openxmlformats.org/drawingml/2006/main" id="11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638675" y="2381250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41DE5E-7E48-4658-81AA-89218229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71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WHAT THE JUDGE CAN 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F0C76-46E6-4BE8-86FE-D88A07E98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BA5101-E6B6-44DE-8313-736789EC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242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CD836C-1B9D-44F9-9B6C-A8D611F0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Three-state 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9D09F5-022E-4435-83F5-962E1F2B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yes, no, or unknown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143BF5-CCD8-443E-BC27-B04BC51E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6245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5F4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E96C2A-212A-47AA-9857-677DD492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9102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3F550-90B4-4BC1-909C-0155B8A3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Evidence trail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9839B7-44A7-4E4C-B93E-4A9C5433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101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exact phrases from the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7604E7-98AC-487B-BF5D-CFCF6177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247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B1B1A0-44AE-4728-9835-92EBBEC1A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577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F26093-3B9E-4EC6-9A6D-40660CFF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01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Human boundary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497654-D2F0-4C15-841B-20D95613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768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proposal separated from final 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28B196-C33E-4EE5-850A-62AB5188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81100"/>
            <a:ext cx="4381500" cy="4248150"/>
          </a:xfrm>
          <a:prstGeom xmlns:a="http://schemas.openxmlformats.org/drawingml/2006/main" prst="roundRect">
            <a:avLst>
              <a:gd name="adj" fmla="val 4036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81b956b0d41f3"/>
          <a:srcRect xmlns:a="http://schemas.openxmlformats.org/drawingml/2006/main" l="20924" t="0" r="209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53300" y="1295400"/>
            <a:ext cx="4152900" cy="4019550"/>
          </a:xfrm>
          <a:prstGeom xmlns:a="http://schemas.openxmlformats.org/drawingml/2006/main" prst="roundRect">
            <a:avLst>
              <a:gd name="adj" fmla="val 2844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E9E7A0-7EBE-4C44-930C-0C2C04AD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76825"/>
            <a:ext cx="33337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D95F4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D17DCA-4F38-450A-AD40-10BA79D9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3875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LIVE DEMO LINK  ·  ADD URL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5902CF-0756-4FB6-A2DB-6488B5A7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81675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2-minute path: paste → analyze → inspect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CDF177-EE4E-43DE-A6E5-063F982D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4A0FFE-ABD6-4A54-8173-80FCCDE4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B0DF33-DA53-42ED-85BB-645782E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721787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8301949-1F7B-461F-B522-01AD336C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3D966-3FB8-42DA-8C69-F9FD4D74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Technical architecture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9a5bd24de4bb1"/>
          <a:stretch xmlns:a="http://schemas.openxmlformats.org/drawingml/2006/main"/>
        </p:blipFill>
        <p:spPr>
          <a:xfrm xmlns:a="http://schemas.openxmlformats.org/drawingml/2006/main">
            <a:off x="10179921" y="133350"/>
            <a:ext cx="1452408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B42FB-8BA5-43BE-B27C-2DB8033F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03 / SIH26165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3506D7-0AF9-4228-87F2-3718BBD9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The interface stays stable while the model layer can change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F468EC-66BD-4486-B3A0-35EFA886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906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REVIEWER EXPERIENCE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EB97AC-BD52-44AC-A013-5DB58A12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85950"/>
            <a:ext cx="2238375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58352-8294-4148-94EB-9C87C9D6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67115-B9D3-47D5-B6E6-993B128EE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66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3672BE-DF66-4E8E-B88D-FFB890C0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Next.js client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9CC41-4E7B-44DB-9627-782DC57F3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Anonymous session, report entry, job status, result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277CF-60F4-4ED1-BCF9-2D267DBB5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85950"/>
            <a:ext cx="2238375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016B18-B394-4AB1-A6BD-517E4E09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9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99D87-6FAE-4596-B296-8A0F00F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66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2976F-7D61-44D7-A5EC-2847257C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002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FastAPI 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3D9E9-C799-4D47-A27B-0955FB6B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003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Auth checks, idempotency, quotas, orchestration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4B5DE-2E7E-4538-BB22-52EB07BF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85950"/>
            <a:ext cx="2238375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CA6CBC-6459-4525-9A7F-F21A4623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09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123E44-BFBF-4793-BCF1-73E17B8B9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066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9137E9-500F-4817-B086-072B7015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Supabase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3B33C-B99F-4272-9040-E4194816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003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Postgres, row-level security, durable queue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40773D-C5DA-4CE8-94D8-1E8E7F9F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2238375" cy="1104900"/>
          </a:xfrm>
          <a:prstGeom xmlns:a="http://schemas.openxmlformats.org/drawingml/2006/main" prst="roundRect">
            <a:avLst>
              <a:gd name="adj" fmla="val 1206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400EB7-34C1-4E77-98D6-5499EE30D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97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946019-035C-4321-8305-79AE5DA9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66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C376D-AB34-420D-89B2-A5431AE76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1571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Analysis worker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FB8ED9-2CC9-4C41-B877-A4DE1511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00300"/>
            <a:ext cx="1895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Leases, retries, provider adapter, provenance</a:t>
            </a:r>
          </a:p>
        </p:txBody>
      </p:sp>
      <p:cxnSp>
        <p:nvCxnSpPr>
          <p:cNvPr id="74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52725" y="24384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305425" y="24384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858125" y="24384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2E257A-CE6A-4E6B-A09D-B122E196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85950"/>
            <a:ext cx="952500" cy="11049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63C3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863BF-5E82-41C5-8E12-A0F6D7AE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143125"/>
            <a:ext cx="72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HUMAN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REVIEW</a:t>
            </a:r>
          </a:p>
        </p:txBody>
      </p:sp>
      <p:cxnSp>
        <p:nvCxnSpPr>
          <p:cNvPr id="79" name=""/>
          <p:cNvCxnSpPr>
            <a:stCxn xmlns:a="http://schemas.openxmlformats.org/drawingml/2006/main" id="22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0410825" y="2438400"/>
            <a:ext cx="2571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82AF8E-3861-4B26-9F67-8231D2E3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1106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C7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C58A35-25E2-4687-8E11-EDE7FE37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RAKSHAK SIF ENGINE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665D49-6095-4959-8D4E-D7BF03F5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95725"/>
            <a:ext cx="5095875" cy="1609725"/>
          </a:xfrm>
          <a:prstGeom xmlns:a="http://schemas.openxmlformats.org/drawingml/2006/main" prst="roundRect">
            <a:avLst>
              <a:gd name="adj" fmla="val 10651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77F553-053B-4ACA-9D88-FA49FCB8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7FF64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7FF64"/>
                </a:solidFill>
                <a:latin typeface="Noto Sans"/>
                <a:ea typeface="Noto Sans"/>
                <a:cs typeface="Noto Sans"/>
              </a:rPr>
              <a:t>PROTOTYPE NOW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06860D-668D-422D-AA1F-29AFA3A7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Gemini hosted baseline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EAE03E3-9627-4C37-A595-038A48B6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76800"/>
            <a:ext cx="445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rPr>
              <a:t>Versioned rubric + strict JSON contract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rPr>
              <a:t>Exact-text evidence and reference checks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D9E4E0"/>
                </a:solidFill>
                <a:latin typeface="Noto Sans"/>
                <a:ea typeface="Noto Sans"/>
                <a:cs typeface="Noto Sans"/>
              </a:rPr>
              <a:t>Provider identity retained in backend provenance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F020CC-B1D5-462F-B569-EC5C4B59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95725"/>
            <a:ext cx="5686425" cy="1609725"/>
          </a:xfrm>
          <a:prstGeom xmlns:a="http://schemas.openxmlformats.org/drawingml/2006/main" prst="roundRect">
            <a:avLst>
              <a:gd name="adj" fmla="val 10651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1430">
            <a:solidFill>
              <a:srgbClr val="4562B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A89716-F93E-4470-A5C0-B32132973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086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AFTER SELECTION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7F8D43-1F49-4F24-B462-35CAB248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4100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Train, compare, then replace the adapter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FB8654-86BE-4998-9597-1E0F59A0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4838700"/>
            <a:ext cx="5095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DeBERTa-v3-small for classification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Qwen 2.5 1.5B with QLoRA for structured generation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Frozen test set, threshold review, model card, CPU reload check</a:t>
            </a:r>
          </a:p>
        </p:txBody>
      </p:sp>
      <p:cxnSp>
        <p:nvCxnSpPr>
          <p:cNvPr id="90" name=""/>
          <p:cNvCxnSpPr>
            <a:stCxn xmlns:a="http://schemas.openxmlformats.org/drawingml/2006/main" id="35" idx="3"/>
            <a:endCxn xmlns:a="http://schemas.openxmlformats.org/drawingml/2006/main" id="39" idx="1"/>
          </p:cNvCxnSpPr>
          <p:nvPr/>
        </p:nvCxnSpPr>
        <p:spPr>
          <a:xfrm xmlns:a="http://schemas.openxmlformats.org/drawingml/2006/main">
            <a:off x="5610225" y="4700588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95F45"/>
            </a:solidFill>
            <a:prstDash val="dash"/>
            <a:tailEnd type="arrow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2441EF9-22A3-440A-B70B-3DD03098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29300"/>
            <a:ext cx="1110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Swap the model adapter only after evaluation. The UI, API, storage, and evidence checks remain.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B37C4D-21EB-410A-B519-7E51EFFD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3187F2-942B-4DD3-9DC3-2A747D2E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830C05-4B3C-48BE-9A90-1CDB652B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90857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BEFE63-55FA-41AA-B395-78272C47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08EB0-C3DA-43F6-9FB9-7A6CD8BC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Feasibility and risk control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8445987594824"/>
          <a:stretch xmlns:a="http://schemas.openxmlformats.org/drawingml/2006/main"/>
        </p:blipFill>
        <p:spPr>
          <a:xfrm xmlns:a="http://schemas.openxmlformats.org/drawingml/2006/main">
            <a:off x="10179921" y="133350"/>
            <a:ext cx="1452408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02B01A-7DC6-40CA-8B3A-353E9022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04 / SIH26165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4E3C72-D139-4DE0-A2E1-6BF2CC62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725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The prototype already proves the workflow. The remaining risk sits in data quality and evaluation.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8CB6F7-0DAE-4985-8BD7-D770C6B0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333750" cy="3752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1430">
            <a:solidFill>
              <a:srgbClr val="163C3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547258-C9F6-4C58-9C29-8B5D3156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3333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163C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BD22FA-6693-46DC-9D08-58A544858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PROVEN IN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027094-D743-44AC-8D59-55672CDE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Owner isolation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C5752-6317-43E3-BF99-BC8E0A7F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Anonymous JWT + row-level security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F58FA-17C5-45A0-A31B-E033D154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EABBC-31AA-468B-A0D4-1B79171C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Durable 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EA36B5-6CF7-4905-A281-67399975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Postgres queue with worker leases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85807D-B9BC-4D9B-841A-A8E0EE0B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9572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351062-0599-48A0-89DB-75AE8EA54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814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Grounded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38F4AA-2F85-47B8-A2F2-6FE08A17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Unsupported evidence quotes are rejected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680C5A-83B4-411B-AEE4-5296D81E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005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DA502E-8544-4340-A87C-8E123B7B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Safe retries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FA5A7-D840-4CA0-805C-74FD2A5E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Idempotency keys protect duplicate requests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ED3FEB-C8DB-43E5-83B3-76EF633A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3333750" cy="3752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11430">
            <a:solidFill>
              <a:srgbClr val="D95F4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90D6C-653E-4BF6-B1C9-9CE2FB7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90700"/>
            <a:ext cx="3333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D95F4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C8E6BF-6616-4878-ACB8-DAD83CBE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716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MAIN RISKS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6B7DC1-10D4-4A3E-A7F0-D363DCA2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Limited labels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DCBC1-9177-45D8-8058-96EFD602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384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SIF precursor data needs expert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4F46E0-CCF1-41BB-97C8-8694B66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1908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45C08-59E6-43B3-9EDA-0A0FEDDA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Domain language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1E1B24-AE4B-4541-ACEA-396A3A48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433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Abbreviations and site terms vary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9F048-9B88-4AAC-AFB3-72675C79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9572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A36D1A-F5FE-498B-8A42-84A3AF01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814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Alert fatigue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2CC59F-4106-4312-8E51-70AD8E80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Too many false positives reduce trust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876246-5DED-4B2A-BFF7-470CFA22B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005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9FFA69-37A0-4952-BA18-69A2B4E1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Sensitive reports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5329CC-7839-4838-8127-C4227765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Industrial incident text may be restricted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0C127A-7D28-4FF0-95C3-D1B28347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37528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1430">
            <a:solidFill>
              <a:srgbClr val="4562B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AB8EA3-8686-4612-A58E-C2E49043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3337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04C71-977A-497F-A482-024F2AE0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167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CONTROL PLAN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EBE17B-D088-46FE-B4D9-DEC50FCA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717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Rights register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0789CA-6C61-4DC8-8C04-8CBD23D0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384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Train only on cleared sources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36411C-A7FA-4343-AC70-0455DF4C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908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4339999-5B45-4F6C-BDD3-3C29805F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Two-model benchmark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1BB90D-570E-439E-89F5-9AC0813B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433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Compare classifier and small LLM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B6730D-FCBC-46EE-8CE0-000D0FE4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9572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04EDC5B-3037-420C-AA87-766EE015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8145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Human thresholding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8E8834-605C-465F-A07B-5C08C1D0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4815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Tune for review workload and recall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D04557-70FC-4387-8E80-001AE964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00575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370991-894B-494E-AC03-05DE3215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86300"/>
            <a:ext cx="2914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Audit trail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4AF916-DF98-4C5F-A1CD-3D28BC23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530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Keep model, prompt, rubric, and input hashes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C769BFE-8CD8-439A-B7A7-9DEAF872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00725"/>
            <a:ext cx="10877550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3201E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03D470-6B49-4457-9870-082E7A40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53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1125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Prototype limit: use only synthetic or cleared public reports until the data-rights review is complete.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9B1D8E-F30F-4039-8533-0EF815C2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AFD5612-B873-4339-99E9-DB5357E6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B45AD9-8A60-4752-83F0-327FDF23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36077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B9A9D3-736E-441D-86B4-AAA58155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EC0CB-550F-4E1E-A0C9-000AD92A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Impact and evaluation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c8a74f3077460a"/>
          <a:stretch xmlns:a="http://schemas.openxmlformats.org/drawingml/2006/main"/>
        </p:blipFill>
        <p:spPr>
          <a:xfrm xmlns:a="http://schemas.openxmlformats.org/drawingml/2006/main">
            <a:off x="10179921" y="133350"/>
            <a:ext cx="1452408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076DB6-7ECA-4A05-A33A-8475A5CE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05 / SIH26165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B63D1C-74DB-4329-AE59-7D509D27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049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Better prioritization must be demonstrated with reviewer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487B6-07AE-40E7-BD96-F1645729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18669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10478">
            <a:solidFill>
              <a:srgbClr val="13201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C68CD-FA82-44A3-A614-FDF1407D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6BDB26-8A16-41C8-97D4-869A22AE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Near-miss 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A8226-EEE9-4FD1-B962-331F4671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18669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10478">
            <a:solidFill>
              <a:srgbClr val="13201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D0A40-B822-443C-9E2E-87546704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BA6D5-136B-4B63-90FF-8B4932C3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SIF 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5AAE86-C506-47D2-AD89-459810EC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52600"/>
            <a:ext cx="18669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0478">
            <a:solidFill>
              <a:srgbClr val="13201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F46BC-7660-410C-801A-D55C3F69A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D4582-7957-4685-92A1-1447328A3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Verified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630345-9610-4226-96B8-23CF732AF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52600"/>
            <a:ext cx="18669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10478">
            <a:solidFill>
              <a:srgbClr val="13201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F3B8A-4E94-4E8B-884C-0311E323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8C4F6-242A-4DA7-9294-517B3EAB6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Reviewer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1154DF-FF94-4B42-A174-7B9A2C0D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752600"/>
            <a:ext cx="18669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10478">
            <a:solidFill>
              <a:srgbClr val="13201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0AF3B-51DE-4DF4-971B-BE318D29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885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AC3D18-DBE2-4C5E-81B7-291CEF1D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71700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Learning loop</a:t>
            </a:r>
          </a:p>
        </p:txBody>
      </p:sp>
      <p:cxnSp>
        <p:nvCxnSpPr>
          <p:cNvPr id="66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81250" y="21717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tailEnd type="arrow" w="sm" len="sm"/>
          </a:ln>
        </p:spPr>
      </p:cxnSp>
      <p:cxnSp>
        <p:nvCxnSpPr>
          <p:cNvPr id="6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591050" y="21717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tailEnd type="arrow" w="sm" len="sm"/>
          </a:ln>
        </p:spPr>
      </p:cxnSp>
      <p:cxnSp>
        <p:nvCxnSpPr>
          <p:cNvPr id="68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00850" y="21717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10650" y="21717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3201E"/>
            </a:solidFill>
            <a:prstDash val="soli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89249C-911F-4687-A01E-6A559E2A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90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EVALUATION SCORECARD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CD79E4-3007-4216-A57D-2B26BDDF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33750"/>
            <a:ext cx="10877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7620">
            <a:solidFill>
              <a:srgbClr val="C9CDC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7CA99-0E64-481E-81C5-046FB77B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SIF recall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51E78B-5408-4016-A42E-E58351C1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385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Of expert-confirmed SIF precursors, how many did the system flag?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8170FE-A1C5-4756-BD28-A7D67493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575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Safety coverage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21B24C-8144-43BE-937E-0B215B56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0877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CDC7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B7A6DD-301D-4F34-82A9-5F2F0CFD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Evidence precision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58093-9868-45C2-87CD-140B33B8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290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What share of surfaced evidence supports the proposed finding?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2689BB-3373-4B4B-B3EA-46024803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48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Explainability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E4D50C-E3C0-4A79-B105-1BC5D46EB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0877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7620">
            <a:solidFill>
              <a:srgbClr val="C9CDC7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6E09BB-2362-49A3-9005-E814E06E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False alert rate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1A3EAF-D852-41C8-AAF4-8118B164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61962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How often does the system flag a non-SIF report?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CDC27F-FF77-4797-AE9A-E14147C2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3867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Reviewer trust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C7294B-51E8-44D4-9F57-B9F52D1A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108775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7620">
            <a:solidFill>
              <a:srgbClr val="C9CDC7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BAD98BC-72C7-4C6C-A74B-23FBD162C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defRPr>
            </a:pPr>
            <a:r>
              <a:rPr sz="1200" b="1">
                <a:solidFill>
                  <a:srgbClr val="4562BF"/>
                </a:solidFill>
                <a:latin typeface="Noto Sans"/>
                <a:ea typeface="Noto Sans"/>
                <a:cs typeface="Noto Sans"/>
              </a:rPr>
              <a:t>Median review time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F47C4F-3A4E-47CE-BC65-4DB5430B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210175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Minutes from opening a report to a recorded human decision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74A089-9FFD-4E83-9FCE-FC58866B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2292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1050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Operational value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BF8683-8257-4C24-90A8-1CEF03B0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76925"/>
            <a:ext cx="10877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1050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No impact percentage is claimed yet. Baseline and target values will be set with OIL reviewers after pilot data is available.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0B4F09-322A-47B3-B5D3-89BD617E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AC50E76-FD60-4926-A0EE-3FC4CDC7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F40B798-02EC-4B3D-8857-EA7831CF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02983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B25D8A-95FD-458B-802C-9C011A8B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DE5D7-6F91-435C-82D0-B5CC1164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2550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Research, roadmap, and submission links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c14f602904c66"/>
          <a:stretch xmlns:a="http://schemas.openxmlformats.org/drawingml/2006/main"/>
        </p:blipFill>
        <p:spPr>
          <a:xfrm xmlns:a="http://schemas.openxmlformats.org/drawingml/2006/main">
            <a:off x="10179921" y="133350"/>
            <a:ext cx="1452408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295E0-8C7E-496B-B75A-9984F921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00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06 / SIH26165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42C526-0AE4-485A-A945-8425BC7D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52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MODEL 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06178-02B4-428B-982A-36B64BD5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504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9525">
            <a:solidFill>
              <a:srgbClr val="13201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069BB-4D06-46B1-9AD2-BF439FCD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287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E23BB-788A-4E7D-A159-E79D9FF7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5811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Hosted baseline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0F90DF-AF61-409B-A386-3274FAB8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383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Complete demo flow and collect structured reviewer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9FDB01-5F44-49DA-A420-D43164D5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504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9525">
            <a:solidFill>
              <a:srgbClr val="1320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F1610-8024-4C11-A446-8CA69F7B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669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B308E-F98F-45FB-A310-7DDF2484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19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Curated labels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CC05B-C44F-498F-B2DE-A9B0F67F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765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Resolve data rights, define splits, annotate with domain experts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E5E9B-CAD1-46AE-A021-05079B3E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504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E4FF"/>
          </a:solidFill>
          <a:ln xmlns:a="http://schemas.openxmlformats.org/drawingml/2006/main" w="9525">
            <a:solidFill>
              <a:srgbClr val="13201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67EC1-140E-4F49-A2DA-4E619D22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THEN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D9B1A-25D0-4910-B1DD-72D10372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Model benchmark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823CE-D13B-4306-9ACE-AEAAA7B8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147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Compare DeBERTa classifier and Qwen 2.5 1.5B QLoRA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45520F-EA4D-4E29-8287-B832434D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5048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5EFE5"/>
          </a:solidFill>
          <a:ln xmlns:a="http://schemas.openxmlformats.org/drawingml/2006/main" w="9525">
            <a:solidFill>
              <a:srgbClr val="13201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A4D15-7523-4EB8-8354-62F5EC5E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43375"/>
            <a:ext cx="647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GATE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4716B2-FDBC-46A9-9B83-7A648A5C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275" b="1">
                <a:solidFill>
                  <a:srgbClr val="13201E"/>
                </a:solidFill>
                <a:latin typeface="Noto Sans"/>
                <a:ea typeface="Noto Sans"/>
                <a:cs typeface="Noto Sans"/>
              </a:rPr>
              <a:t>Safe replacement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EB675-33D1-4C3F-B79C-3AE1C0DB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Promote only after held-out evaluation and model documentation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E0FDF-0BC1-4C4D-9371-7896F3D4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152525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163C3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163C35"/>
                </a:solidFill>
                <a:latin typeface="Noto Sans"/>
                <a:ea typeface="Noto Sans"/>
                <a:cs typeface="Noto Sans"/>
              </a:rPr>
              <a:t>PRIMARY REFERENCES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1A917-21B9-4BC3-84C2-AD7DD313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049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600" b="1" u="sng">
                <a:solidFill>
                  <a:srgbClr val="4562BF"/>
                </a:solidFill>
                <a:hlinkClick xmlns:r="http://schemas.openxmlformats.org/officeDocument/2006/relationships" r:id="R475942de5514472a"/>
              </a:rPr>
              <a:t>SafeOCS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23F69C-97E3-4AF8-9B3D-66DE01EA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Near-miss and offshore precursor data program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404ED5-5CAC-4ECC-A749-81A08CF1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2479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600" b="1" u="sng">
                <a:solidFill>
                  <a:srgbClr val="4562BF"/>
                </a:solidFill>
                <a:hlinkClick xmlns:r="http://schemas.openxmlformats.org/officeDocument/2006/relationships" r:id="R9aa6cafb0dac4fe8"/>
              </a:rPr>
              <a:t>IOGP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998C3F-861A-4CEF-93BD-A089A8EB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5336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Process safety indicators and Life-Saving Rules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CA309-ECDE-49A1-B417-C9EDD6B0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9085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600" b="1" u="sng">
                <a:solidFill>
                  <a:srgbClr val="4562BF"/>
                </a:solidFill>
                <a:hlinkClick xmlns:r="http://schemas.openxmlformats.org/officeDocument/2006/relationships" r:id="R73fe3402118145ec"/>
              </a:rPr>
              <a:t>Baker et 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820378-3285-47A0-B5C1-BC4E1745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76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Learning injury precursors from raw reports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92A819-5826-471F-8361-D2FFFFB4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3800"/>
            <a:ext cx="1952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600" b="1" u="sng">
                <a:solidFill>
                  <a:srgbClr val="4562BF"/>
                </a:solidFill>
                <a:hlinkClick xmlns:r="http://schemas.openxmlformats.org/officeDocument/2006/relationships" r:id="Rc829d039f2894262"/>
              </a:rPr>
              <a:t>Petrobras 3W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C0E2AF-8CB7-4F45-BCB8-0DD97EC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19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defRPr>
            </a:pPr>
            <a:r>
              <a:rPr sz="975" b="0">
                <a:solidFill>
                  <a:srgbClr val="5C6965"/>
                </a:solidFill>
                <a:latin typeface="Noto Sans"/>
                <a:ea typeface="Noto Sans"/>
                <a:cs typeface="Noto Sans"/>
              </a:rPr>
              <a:t>Public benchmark for undesirable oil-well events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D6FBDB-713C-404D-8845-468ABCE8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57725"/>
            <a:ext cx="5314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C7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BCF766-68EC-4BB7-B61B-176959CA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876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defRPr>
            </a:pPr>
            <a:r>
              <a:rPr sz="975" b="1">
                <a:solidFill>
                  <a:srgbClr val="D95F45"/>
                </a:solidFill>
                <a:latin typeface="Noto Sans"/>
                <a:ea typeface="Noto Sans"/>
                <a:cs typeface="Noto Sans"/>
              </a:rPr>
              <a:t>ADD BEFORE UPLOAD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3A2CC1-9E81-4D2B-A7DE-6F74B250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191125"/>
            <a:ext cx="2571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FC0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AC1F94-D459-4ABC-AC14-A0BFECFC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959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400" b="1">
                <a:solidFill>
                  <a:srgbClr val="13201E"/>
                </a:solidFill>
              </a:rPr>
              <a:t>LIVE DEMO  </a:t>
            </a:r>
            <a:r>
              <a:rPr sz="1100">
                <a:solidFill>
                  <a:srgbClr val="5C6965"/>
                </a:solidFill>
              </a:rPr>
              <a:t>ADD URL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80A44A-38C8-4E50-B3BC-0FBA31A0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191125"/>
            <a:ext cx="25717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8DED5"/>
          </a:solidFill>
          <a:ln xmlns:a="http://schemas.openxmlformats.org/drawingml/2006/main" w="11430">
            <a:solidFill>
              <a:srgbClr val="13201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7911D1-0B8A-490D-B50A-F03D94E5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2959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400" b="1">
                <a:solidFill>
                  <a:srgbClr val="13201E"/>
                </a:solidFill>
              </a:rPr>
              <a:t>VIDEO GUIDE  </a:t>
            </a:r>
            <a:r>
              <a:rPr sz="1100">
                <a:solidFill>
                  <a:srgbClr val="5C6965"/>
                </a:solidFill>
              </a:rPr>
              <a:t>ADD URL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1C6B1C-8B0D-4F33-956E-118895BF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895975"/>
            <a:ext cx="531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3201E"/>
                </a:solidFill>
                <a:latin typeface="Noto Sans"/>
                <a:ea typeface="Noto Sans"/>
                <a:cs typeface="Noto Sans"/>
              </a:defRPr>
            </a:pPr>
            <a:r>
              <a:rPr sz="1300" b="1">
                <a:solidFill>
                  <a:srgbClr val="13201E"/>
                </a:solidFill>
              </a:rPr>
              <a:t>GitHub  </a:t>
            </a:r>
            <a:r>
              <a:rPr sz="1200" u="sng">
                <a:solidFill>
                  <a:srgbClr val="4562BF"/>
                </a:solidFill>
                <a:hlinkClick xmlns:r="http://schemas.openxmlformats.org/officeDocument/2006/relationships" r:id="R85bf4e3e77064ee3"/>
              </a:rPr>
              <a:t>github.com/harshit-164/Rakshak-AI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C869E0-6855-4AE4-97D2-D4582666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BF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34B4C9-9EE9-4D19-920D-ADAACA11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627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TEAM SABLE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2C11DFB-8B91-4A3C-BC9C-868A84D9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627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851476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2026-09-07T16:55:50.7930000Z</dcterms:created>
  <dcterms:modified xsi:type="dcterms:W3CDTF">2026-09-07T16:55:50.7930000Z</dcterms:modified>
</coreProperties>
</file>