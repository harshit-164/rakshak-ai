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1eccea5dd44b6" /><Relationship Type="http://schemas.openxmlformats.org/officeDocument/2006/relationships/extended-properties" Target="/docProps/app.xml" Id="R8b211d28939a48a6" /><Relationship Type="http://schemas.openxmlformats.org/officeDocument/2006/relationships/officeDocument" Target="/ppt/presentation.xml" Id="R92c88098406b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aac9f7f324e17"/>
  </p:sldMasterIdLst>
  <p:notesMasterIdLst>
    <p:notesMasterId xmlns:r="http://schemas.openxmlformats.org/officeDocument/2006/relationships" r:id="Raf0889dc1eac49ac"/>
  </p:notesMasterIdLst>
  <p:sldIdLst>
    <p:sldId xmlns:r="http://schemas.openxmlformats.org/officeDocument/2006/relationships" id="256" r:id="Rddeb464e62e84d4c"/>
    <p:sldId xmlns:r="http://schemas.openxmlformats.org/officeDocument/2006/relationships" id="257" r:id="Rf4db882d08e549e7"/>
    <p:sldId xmlns:r="http://schemas.openxmlformats.org/officeDocument/2006/relationships" id="258" r:id="R8cf3f05f9287416f"/>
    <p:sldId xmlns:r="http://schemas.openxmlformats.org/officeDocument/2006/relationships" id="259" r:id="R28629b3acd974483"/>
    <p:sldId xmlns:r="http://schemas.openxmlformats.org/officeDocument/2006/relationships" id="260" r:id="Rc4d6bf70369545aa"/>
    <p:sldId xmlns:r="http://schemas.openxmlformats.org/officeDocument/2006/relationships" id="261" r:id="R1a0fb3e1b96247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eadd0a0c1643d1" /><Relationship Type="http://schemas.openxmlformats.org/officeDocument/2006/relationships/slideMaster" Target="/ppt/slideMasters/slideMaster1.xml" Id="R32caac9f7f324e17" /><Relationship Type="http://schemas.openxmlformats.org/officeDocument/2006/relationships/notesMaster" Target="/ppt/notesMasters/notesMaster1.xml" Id="Raf0889dc1eac49ac" /><Relationship Type="http://schemas.openxmlformats.org/officeDocument/2006/relationships/presProps" Target="/ppt/presProps.xml" Id="Rd508e8a1a4604532" /><Relationship Type="http://schemas.openxmlformats.org/officeDocument/2006/relationships/tableStyles" Target="/ppt/tableStyles.xml" Id="Rf86213f0eaaa46f8" /><Relationship Type="http://schemas.openxmlformats.org/officeDocument/2006/relationships/slide" Target="/ppt/slides/slide1.xml" Id="Rddeb464e62e84d4c" /><Relationship Type="http://schemas.openxmlformats.org/officeDocument/2006/relationships/slide" Target="/ppt/slides/slide2.xml" Id="Rf4db882d08e549e7" /><Relationship Type="http://schemas.openxmlformats.org/officeDocument/2006/relationships/slide" Target="/ppt/slides/slide3.xml" Id="R8cf3f05f9287416f" /><Relationship Type="http://schemas.openxmlformats.org/officeDocument/2006/relationships/slide" Target="/ppt/slides/slide4.xml" Id="R28629b3acd974483" /><Relationship Type="http://schemas.openxmlformats.org/officeDocument/2006/relationships/slide" Target="/ppt/slides/slide5.xml" Id="Rc4d6bf70369545aa" /><Relationship Type="http://schemas.openxmlformats.org/officeDocument/2006/relationships/slide" Target="/ppt/slides/slide6.xml" Id="R1a0fb3e1b962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dbb5fa31e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dfd5d3a1f4a30" /><Relationship Type="http://schemas.openxmlformats.org/officeDocument/2006/relationships/notesMaster" Target="/ppt/notesMasters/notesMaster1.xml" Id="R563954609a7846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1f19c53584fde" /><Relationship Type="http://schemas.openxmlformats.org/officeDocument/2006/relationships/notesMaster" Target="/ppt/notesMasters/notesMaster1.xml" Id="R2eaa783e5989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029682b024dd2" /><Relationship Type="http://schemas.openxmlformats.org/officeDocument/2006/relationships/notesMaster" Target="/ppt/notesMasters/notesMaster1.xml" Id="R199d5784a2ee49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63daa8c2d4ed1" /><Relationship Type="http://schemas.openxmlformats.org/officeDocument/2006/relationships/notesMaster" Target="/ppt/notesMasters/notesMaster1.xml" Id="Rbe932b55ec65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efee68ccef477e" /><Relationship Type="http://schemas.openxmlformats.org/officeDocument/2006/relationships/notesMaster" Target="/ppt/notesMasters/notesMaster1.xml" Id="R1054377415f94e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0940f2b4634423" /><Relationship Type="http://schemas.openxmlformats.org/officeDocument/2006/relationships/notesMaster" Target="/ppt/notesMasters/notesMaster1.xml" Id="Rcd5c8c5ab88b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local Rakshak AI repository and running prototype captured on 2026-09-07. GitHub: https://github.com/harshit-164/Rakshak-AI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apps/web/app/analyze/analyze-form.tsx; services/api/app/validation.py; services/api/app/contracts.py. Prototype screenshot captured from the local app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README.md; apps/web/app/lib/safeguard-api.ts; services/api/app/routes.py; services/api/app/worker.py; services/api/app/validation.py; supabase/migrations. Model roadmap reflects the user's stated plan and is not presented as completed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services/api/app/worker.py; services/api/app/validation.py; services/api/app/persistence.py; supabase/migrations; configs/references/source-register.v1.json. No production-readiness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scorecard defines proposed evaluation metrics. No measured impact results are available in the repository as of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2026-09-07:</a:t>
            </a:r>
          </a:p>
          <a:p xmlns:a="http://schemas.openxmlformats.org/drawingml/2006/main">
            <a:r>
              <a:t>SafeOCS: https://www.bts.gov/browse-statistical-products-and-data/precursor-safety-data-program/offshore-energy-safety-data</a:t>
            </a:r>
          </a:p>
          <a:p xmlns:a="http://schemas.openxmlformats.org/drawingml/2006/main">
            <a:r>
              <a:t>IOGP Life-Saving Rules: https://www.iogp.org/workstreams/safety/safety/life-savingrules/</a:t>
            </a:r>
          </a:p>
          <a:p xmlns:a="http://schemas.openxmlformats.org/drawingml/2006/main">
            <a:r>
              <a:t>Automatically Learning Construction Injury Precursors from Text: https://arxiv.org/abs/1907.11769</a:t>
            </a:r>
          </a:p>
          <a:p xmlns:a="http://schemas.openxmlformats.org/drawingml/2006/main">
            <a:r>
              <a:t>Petrobras 3W: https://github.com/petrobras/3W</a:t>
            </a:r>
          </a:p>
          <a:p xmlns:a="http://schemas.openxmlformats.org/drawingml/2006/main">
            <a:r>
              <a:t>Internal rights register: configs/references/source-register.v1.json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59ddedade48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72ccd32494e71" /><Relationship Type="http://schemas.openxmlformats.org/officeDocument/2006/relationships/slideLayout" Target="/ppt/slideLayouts/slideLayout1.xml" Id="R154211f75a6d4e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211f75a6d4e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dd8510434e0d" /><Relationship Type="http://schemas.openxmlformats.org/officeDocument/2006/relationships/image" Target="/ppt/media/image.png" Id="Rce81d23357344619" /><Relationship Type="http://schemas.openxmlformats.org/officeDocument/2006/relationships/image" Target="/ppt/media/image2.png" Id="R080dc94995504623" /><Relationship Type="http://schemas.openxmlformats.org/officeDocument/2006/relationships/image" Target="/ppt/media/image.jpeg" Id="R71b38c420420422f" /><Relationship Type="http://schemas.openxmlformats.org/officeDocument/2006/relationships/hyperlink" Target="https://github.com/harshit-164/Rakshak-AI" TargetMode="External" Id="R6cb813a614324182" /><Relationship Type="http://schemas.openxmlformats.org/officeDocument/2006/relationships/notesSlide" Target="/ppt/notesSlides/notesSlide1.xml" Id="Ree3ebffff7414e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9b4cbae114699" /><Relationship Type="http://schemas.openxmlformats.org/officeDocument/2006/relationships/image" Target="/ppt/media/image3.png" Id="R0caa16a18fb54368" /><Relationship Type="http://schemas.openxmlformats.org/officeDocument/2006/relationships/image" Target="/ppt/media/image2.jpeg" Id="R37baa18a4b144e82" /><Relationship Type="http://schemas.openxmlformats.org/officeDocument/2006/relationships/notesSlide" Target="/ppt/notesSlides/notesSlide2.xml" Id="R0a284275b07c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0a64fe1bf489f" /><Relationship Type="http://schemas.openxmlformats.org/officeDocument/2006/relationships/image" Target="/ppt/media/image4.png" Id="R1b102875a0044ddd" /><Relationship Type="http://schemas.openxmlformats.org/officeDocument/2006/relationships/notesSlide" Target="/ppt/notesSlides/notesSlide3.xml" Id="R5cac814ec8144a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ace17fc124566" /><Relationship Type="http://schemas.openxmlformats.org/officeDocument/2006/relationships/image" Target="/ppt/media/image5.png" Id="R6a1684eaacde4616" /><Relationship Type="http://schemas.openxmlformats.org/officeDocument/2006/relationships/notesSlide" Target="/ppt/notesSlides/notesSlide4.xml" Id="R6a5b68a7834e46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f1b4b65ce464b" /><Relationship Type="http://schemas.openxmlformats.org/officeDocument/2006/relationships/image" Target="/ppt/media/image6.png" Id="R48ff6822bf5845f7" /><Relationship Type="http://schemas.openxmlformats.org/officeDocument/2006/relationships/notesSlide" Target="/ppt/notesSlides/notesSlide5.xml" Id="R715182713fbc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602c5f7d346fe" /><Relationship Type="http://schemas.openxmlformats.org/officeDocument/2006/relationships/image" Target="/ppt/media/image7.png" Id="Rb477339185ae4132" /><Relationship Type="http://schemas.openxmlformats.org/officeDocument/2006/relationships/hyperlink" Target="https://www.bts.gov/browse-statistical-products-and-data/precursor-safety-data-program/offshore-energy-safety-data" TargetMode="External" Id="R07d2e19a8f5a465c" /><Relationship Type="http://schemas.openxmlformats.org/officeDocument/2006/relationships/hyperlink" Target="https://www.iogp.org/workstreams/safety/safety/life-savingrules/" TargetMode="External" Id="R210c7a298afb4e86" /><Relationship Type="http://schemas.openxmlformats.org/officeDocument/2006/relationships/hyperlink" Target="https://arxiv.org/abs/1907.11769" TargetMode="External" Id="Rb1cf5fbe1add4599" /><Relationship Type="http://schemas.openxmlformats.org/officeDocument/2006/relationships/hyperlink" Target="https://github.com/petrobras/3W" TargetMode="External" Id="Re1f849859d9c4485" /><Relationship Type="http://schemas.openxmlformats.org/officeDocument/2006/relationships/hyperlink" Target="https://github.com/harshit-164/Rakshak-AI" TargetMode="External" Id="R231c46b306db4dd5" /><Relationship Type="http://schemas.openxmlformats.org/officeDocument/2006/relationships/notesSlide" Target="/ppt/notesSlides/notesSlide6.xml" Id="R82126f4c80cc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264D3-7197-4565-AC7D-4280BFF6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1d23357344619"/>
          <a:stretch xmlns:a="http://schemas.openxmlformats.org/drawingml/2006/main"/>
        </p:blipFill>
        <p:spPr>
          <a:xfrm xmlns:a="http://schemas.openxmlformats.org/drawingml/2006/main">
            <a:off x="533400" y="361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93F2-D34E-4760-B249-57043353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RAKSHAK.AI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dc94995504623"/>
          <a:stretch xmlns:a="http://schemas.openxmlformats.org/drawingml/2006/main"/>
        </p:blipFill>
        <p:spPr>
          <a:xfrm xmlns:a="http://schemas.openxmlformats.org/drawingml/2006/main">
            <a:off x="9952716" y="190500"/>
            <a:ext cx="1573442" cy="74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BD5D8-2FCF-44E9-8FD7-9522658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SMART INDIA HACKATHON 2026 / TEAM 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60B55-88C0-44BC-8122-80A01A74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RAKSHAK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81D8C-81FD-4F24-BC07-031F6E4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557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Explainable SIF intelligence from near-miss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E2B3-5C2E-4326-8D9B-F0E95667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SIH26165  ·  Software  ·  Miscellaneous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2C460-D48E-48E4-9BFB-BC87FE2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 reviewer-first prototype that keeps exact evidence visible and uncertainty honest.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EDC3D-A491-4B8E-87E2-63FE9E43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72050" cy="33528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38c420420422f"/>
          <a:srcRect xmlns:a="http://schemas.openxmlformats.org/drawingml/2006/main" l="7272" t="0" r="7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295400"/>
            <a:ext cx="4743450" cy="3124200"/>
          </a:xfrm>
          <a:prstGeom xmlns:a="http://schemas.openxmlformats.org/drawingml/2006/main" prst="roundRect">
            <a:avLst>
              <a:gd name="adj" fmla="val 426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FDE02-53CE-4E49-AE95-00A3302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33362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7FF64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118D0-2A80-4052-98AA-51F3C036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WORKING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76D3E-DFC8-42F1-86FB-87524781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00EE7-4255-4950-BBD7-DA297B6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LIVE DEMO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5D7A4-2CE0-41B5-9245-708CB2B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86375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920A1-7DB5-4AE4-903F-41FA8A6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VIDEO GUIDE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FCD2C-6EAA-4BB2-9084-40F864FA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95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D9EED-EE89-4955-8A35-BD5E055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GITHUB  </a:t>
            </a:r>
            <a:r>
              <a:rPr sz="1100" u="sng">
                <a:solidFill>
                  <a:srgbClr val="13201E"/>
                </a:solidFill>
                <a:hlinkClick xmlns:r="http://schemas.openxmlformats.org/officeDocument/2006/relationships" r:id="R6cb813a614324182"/>
              </a:rPr>
              <a:t>github.com/harshit-164/Rakshak-AI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43471D-0CF0-4D5D-9467-C6C8864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Replace the two ADD URL fields before submission.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33514-B43B-4357-AC9E-F13AD0B2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D4BB1-B03C-4FCC-92BE-A2852DE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D01FF-104F-4A3A-B1F4-0F86D7D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59979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818DB1-4987-477B-90E0-FB1119B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ECB20-CBA8-45E2-AB4C-12D9B6C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Idea and live demo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a16a18fb54368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7391C-ED8C-45B7-8C2D-84083F5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02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FCC62-17BD-4D40-9E0B-C7EFFF3E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One report becomes a traceable review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20252-E414-425A-8EC0-C5D92EC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1A810-44CC-4BF8-9DC4-DEA3541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69DB5-F33D-42E8-8288-905F6A1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DAA02-972A-42F7-BEF8-1E260D3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6510-F010-4DA3-AD5B-0F272B1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Paste a synthetic or cleared observation. Original text remains unchanged.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E78E1-8BEE-47FB-B95E-716B2C2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01857-6DDA-4157-BEE0-A2D8F1E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14D65-7C27-422E-9CC6-B24A9EF0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713EF-2F78-48BD-8606-245668E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Analyze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E9915-2CA8-491A-8BBF-C543AFAA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The engine proposes SIF potential, precursor tags, barriers, and rule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D444-EA3A-4386-953C-DEE390F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0C97E-1D95-49A1-83DF-903970F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B0B97-4AB7-4700-97D2-2C6C49D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C6AF8-168E-40F0-A9C2-E31F0F94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4D262-8068-4735-823A-A5F4A0C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Every evidence quote must exist in the submitted text before the result is saved.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66975" y="2381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638675" y="2381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0880E-D0FD-44C7-9CA5-BB2A800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WHAT THE JUDGE CAN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70141-C8F6-4CF3-837E-B2C34715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0CCCEB-EAC8-460F-9F82-D8462377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1755D-5AC8-486E-A80F-19AE9B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Three-state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38279-70F7-4BE3-B231-85F0195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yes, no, or 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400D1-C41B-466A-89F0-1B2529E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8DFEA-B7F2-4BE6-A4F2-84E961B8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910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7179B8-CC8D-4AA1-8F63-EBC09B66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Evidence trail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9CA231-8322-48EF-988E-4B5501B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exact phrases from the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89BF3-9A86-4820-988A-3E86976A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22452D-C007-43D9-930F-374E4F5C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8C789A-8866-4810-BA38-7546EFD0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Human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A8D114-2C5C-4DCE-A7EE-E2E8EE1B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proposal separated from final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149D8-8F52-4FC3-A20B-4B40B57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381500" cy="4248150"/>
          </a:xfrm>
          <a:prstGeom xmlns:a="http://schemas.openxmlformats.org/drawingml/2006/main" prst="roundRect">
            <a:avLst>
              <a:gd name="adj" fmla="val 4036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a18a4b144e82"/>
          <a:srcRect xmlns:a="http://schemas.openxmlformats.org/drawingml/2006/main" l="20924" t="0" r="209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1295400"/>
            <a:ext cx="415290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5E89D-9342-47DD-9FD3-C569D21D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76825"/>
            <a:ext cx="333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56E87B-05A5-435F-A775-0768118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LIVE DEMO LINK  ·  ADD URL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21381D-04C0-480C-9B7C-F9B7DFB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816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2-minute path: paste → analyze → inspect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4DAFA6-9B07-4B83-9479-2962A5E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62663-7E2B-4FA4-B1EE-5C5525D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731E9A-6A13-4DCB-9AB6-8C9C139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9482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C38D70-4344-429C-9A77-1DCE181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D8F95-2965-496F-AB81-16C4853F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Technical architecture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02875a0044ddd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FE851-57BB-441B-8BB6-E0296960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03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DB3A-7A12-4D4D-952F-58AA5FFB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The interface stays stable while the model layer can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6211B-473D-4F04-8406-B95DF225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REVIEWER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2CF87-6FBD-4A89-90C8-7F552AC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1463F-BBD4-4C97-BD59-F511C194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9A025-D550-4E99-A0A2-8DB5A78F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F3824-3638-4BC1-8B8B-B543B02F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Next.js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F1674-931F-4501-AF88-9B60122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Anonymous session, report entry, job status, result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64111-DD9B-4C73-A8C5-0B2E363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7E43D-4F22-4205-8ED4-27ACAB7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8E39-A192-4995-A73E-0C40E92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BC86F-0574-4693-929F-C386E5F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FastAPI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41C9B-7BFA-4198-87FB-0C2A0D5E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Auth checks, idempotency, quotas,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8395C-BCFD-4F43-9DF8-E8824AF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5F0DB-EF94-40E3-AB93-36C5BB3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BA125-074A-40C0-9E4F-BC1AE8F4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9B3C6-0F91-4B8C-9A1C-933CFB4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Supabase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F0CAB-6091-457F-8444-A398B0D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Postgres, row-level security, durable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90C3F-640D-4160-8437-2EEFA3A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30D7C-BC43-4292-8E2F-C15C07F5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66AE2-2CF2-4C08-B391-E527849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FD507-99BF-42F7-B3E4-7B3B705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Analysis worker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31D8E-207D-4DF6-A49F-F219D2F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Leases, retries, provider adapter, provenance</a:t>
            </a:r>
          </a:p>
        </p:txBody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527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3054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76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BB338-A037-4F96-B1CC-847AA977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85950"/>
            <a:ext cx="952500" cy="11049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3C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ACC84D-0291-48FB-9C76-85FD918A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143125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HUMAN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REVIEW</a:t>
            </a:r>
          </a:p>
        </p:txBody>
      </p:sp>
      <p:cxnSp>
        <p:nvCxnSpPr>
          <p:cNvPr id="79" name=""/>
          <p:cNvCxnSpPr>
            <a:stCxn xmlns:a="http://schemas.openxmlformats.org/drawingml/2006/main" id="22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410825" y="24384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BACBE-E9A7-4D2A-8DD9-9CDC2D7E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10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5C43E-DE02-42D9-9C2F-54F7B03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RAKSHAK SIF ENGINE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D3550F-8CFA-4BDC-A794-9287C7D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5095875" cy="1609725"/>
          </a:xfrm>
          <a:prstGeom xmlns:a="http://schemas.openxmlformats.org/drawingml/2006/main" prst="roundRect">
            <a:avLst>
              <a:gd name="adj" fmla="val 10651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DD761A-5941-4CD4-8047-9CCAB9F3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7FF64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7FF64"/>
                </a:solidFill>
                <a:latin typeface="Noto Sans"/>
                <a:ea typeface="Noto Sans"/>
                <a:cs typeface="Noto Sans"/>
              </a:rPr>
              <a:t>PROTOTYPE NOW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E51DEC-F5AB-4B3D-A86D-2B686DFD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Gemini hosted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9BCC7-27E5-4464-837A-87F7F846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Versioned rubric + strict JSON contract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Exact-text evidence and reference checks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Provider identity retained in backend provenance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D8D773-9999-4468-8334-0ABB19C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95725"/>
            <a:ext cx="5686425" cy="1609725"/>
          </a:xfrm>
          <a:prstGeom xmlns:a="http://schemas.openxmlformats.org/drawingml/2006/main" prst="roundRect">
            <a:avLst>
              <a:gd name="adj" fmla="val 10651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4562B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4CA981-471E-4846-8475-1B9C9559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86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AFTER SELECTION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25CCC2-4138-426F-A037-A81F77B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10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Train, compare, then replace the adapter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57BAD2-A065-46EB-BE4F-9778014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38700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DeBERTa-v3-small for classification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Qwen 2.5 1.5B with QLoRA for structured generation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Frozen test set, threshold review, model card, CPU reload check</a:t>
            </a:r>
          </a:p>
        </p:txBody>
      </p:sp>
      <p:cxnSp>
        <p:nvCxnSpPr>
          <p:cNvPr id="90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610225" y="47005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F45"/>
            </a:solidFill>
            <a:prstDash val="dash"/>
            <a:head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D053AE-E3A0-40D4-85FB-747EC50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Swap the model adapter only after evaluation. The UI, API, storage, and evidence checks remain.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A3FD1D-B22F-4A28-A1EA-11498141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CD9AA9-F45F-4424-92C4-76C85B8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7BB7FF-A05A-41BC-BDCE-B4A9D66F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3014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A42DBF-23DA-4A5C-849A-BCB9741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5BC8D-8C6D-4F10-8F0A-1F7682D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Feasibility and risk control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84eaacde4616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1717-AF24-4254-9CCF-3BE980E8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04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C9BF4-0674-452D-A634-A14875D4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The prototype already proves the workflow. The remaining risk sits in data quality and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DA0AC-89C3-4901-83F4-9C3DD5C8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63C3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09911-92DE-4FF8-BF89-39BF83E0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3C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923B7-F92C-4441-8C8D-CAC93C16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PROVEN IN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082FF-80E3-48FE-90C7-2B3A9AC8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Owner isolation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C1945-6E52-4E41-9FEA-6F597310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Anonymous JWT + row-level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4F526-C78C-41DC-A173-3E29F4B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CC7B9-3456-419A-8F5E-4B67FE9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Durable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2EA1-A255-4A98-AF95-09B3933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Postgres queue with worker leases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499CF-6A69-4080-B874-BC83DDFE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27ED0-80C3-4CBF-957D-E043055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Grounded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4E6E1-1919-45DA-9E5E-AC0A9E3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Unsupported evidence quotes are rejected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1BD38-F0EB-4A60-83A6-B6993C57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96944-0AA1-4481-A229-A83A419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Safe retries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69556-212C-4A8D-BF0F-EDBA81F1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Idempotency keys protect duplicate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D6BC9-B94F-4CE3-B2AB-0EAB08B8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D95F4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47C6E-B22F-425E-B137-3490578C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F9AE1-C872-4FA1-A162-E7E72A3C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MAIN RISKS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DACE4-A060-4AF1-95F1-63091DE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Limited 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CD095-3EF8-4D24-997A-39115178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SIF precursor data needs expert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AD577-C09F-45F8-93F6-1C42C35F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0DE86-89E3-499C-BE6B-8DD05D7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Domain language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78313-8FD0-41C2-AE70-E7139278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Abbreviations and site terms vary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19268-B8A8-45E9-B191-EC67AF4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4215B-407A-4F2E-8CF7-CB626D8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Alert fatigue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770FB-B85D-497E-81CB-6085DDF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Too many false positives reduce trust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FE04D-167D-4727-B0AB-32549773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43597-6D8F-4A71-AEC2-1E30C18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Sensitive reports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270B3-83B6-47E8-A86E-5C3346AF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Industrial incident text may be restricted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6AA61C-4B36-4234-A009-2A3E8304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4562B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77066-E05B-4099-9389-0218647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D5190-DFDF-409A-BED7-A5CE7C5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CONTROL 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BB289-A72D-4A62-A20C-6865911C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Rights register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FAAFB9-F1E6-46C4-99D1-78E2C12D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Train only on cleared sources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C98570-ECB2-4B4B-BFB1-7208B280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CA6A6-8997-4B0D-AF17-83CDDE9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Two-model benchmark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D729A5-A47A-4FF4-BF26-A9814201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Compare classifier and small LLM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6D13F-8902-422F-84D2-1A0E5632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8867DF-EFD4-4DDE-AB19-AEA8F8E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Human thresholding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9550A8-A60A-4BFA-AD6E-92FB59B8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Tune for review workload and recall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1DDA31-35A9-41D5-917E-21C13E54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DE81E2-955D-42FB-940A-C3DD0AF6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Audit trail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A2F7F4-3B05-458B-AEBF-82F2AB0E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Keep model, prompt, rubric, and input hashes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8E2C88-2A99-4273-A865-17FC0E35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108775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F9EFC2-B94D-4CC9-B701-BC4D1700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3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Prototype limit: use only synthetic or cleared public reports until the data-rights review is complete.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C564E4-EA4F-41F1-A8C0-8941AD3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FF2F49-4B78-444B-AC45-18B502DD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22D8FC-A28D-43B2-9736-F69E62A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41597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A1E546-4BEF-4648-B9F0-02A02E7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DC3B6-3253-489F-80D9-89C6A92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Impact and evaluation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f6822bf5845f7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0A463-8601-49B1-86A9-3D96680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05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D5F51-95D8-4734-A8CD-441005A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Better prioritization must be demonstrated with reviewer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2FC07-6C6E-4889-9B1E-3438CD2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0BA75-A70C-4B1B-8EDA-99EDD6E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F45CC-0BF9-45D8-90CC-DC0440B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Near-miss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5A741-C0E4-4238-99B3-71302BA3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4E235-B444-4CA3-9FAB-AE3306F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292F6-186B-4DC7-A82D-40AF8D6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SIF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E772D-7107-4D13-AED9-DBFE75F3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EC135-CC8A-4B4C-9F9D-158E8D88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8EEE6-5675-4939-8C64-A7583A7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Verified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9320C-F622-4DEE-896C-B10B498D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15EF1-2C6E-48AA-8EB1-0DAC309D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233B5-B1E1-4705-9584-3A564F0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Reviewer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C3BA2-5AF0-495B-92E3-AFF17962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C7EBC-90AA-4A15-99CF-67F1F3A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18232-DB5F-40BF-BB3A-9C4378A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Learning loop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910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008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106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head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F7845-E938-4116-B064-55BCC964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EVALUATION SCORECARD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ECCE91-00AF-4A22-B262-1E302DC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CC384-4F84-490A-BF1A-2C6F066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SIF recall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78696-9F1D-45C2-8DFD-740440C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38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Of expert-confirmed SIF precursors, how many did the system flag?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FFC4A-6B15-4F96-A876-7F80724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57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Safety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2E746-2DB3-4D10-9B75-494FD6B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45D782-9A0F-4E09-A21C-ED2D090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Evidence precision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4D1B9-A39D-40EF-A9A4-2B7B0BC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29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What share of surfaced evidence supports the proposed finding?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2150A-4C97-4D96-AC89-CD8BCF9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Explainability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F25B19-D48E-4D4C-8E6B-B79A774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28A6D2-E672-4A3B-8CF9-B2B7949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False alert 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7458FC-431C-4A4B-8492-C19DEC42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How often does the system flag a non-SIF report?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E99049-022C-44A5-ACEE-5BF58C59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Reviewer trust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36DA47-D505-419B-8869-97E73A9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F7428-D806-4A9F-8696-9A856789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Median review 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4485A3-FDB6-482B-A1CE-65019FE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101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Minutes from opening a report to a recorded human 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816553-F95D-4059-8BEE-5EDCAA79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29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Operational value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623B3D-5469-426A-807D-453ABAA7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1087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No impact percentage is claimed yet. Baseline and target values will be set with OIL reviewers after pilot data is available.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B84244-023A-40DA-BA2F-ABDF422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5BB8FD-2408-452E-8371-8CE7E112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64E626-F596-41E1-BCFD-76541DF5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95182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006CE5-66BD-42FF-B197-F0671DA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4FEB5-8084-4691-89A5-6C7C5D66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Research, roadmap, and submission links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7339185ae4132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5BF3D-6482-4DD6-A845-9A034E0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06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6AAC2-948D-4990-8C4C-C73D5D3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MODEL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1D8F1-10F3-4424-9EE8-B0C9800E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56C84-FF5D-4717-BD1B-73424FE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B82EE-296D-44A3-9FCB-6B80650E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Hosted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C52E-6A02-44F1-B6E1-12F6353B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Complete demo flow and collect structured reviewer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6B823-462C-43CD-AA68-F6320286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B4F26-A1A4-4F9B-AE3F-2C2DDB9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56E19-81C8-464D-888D-5D4D4B1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Curated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D3109-575A-4AA7-87B3-0E5D40B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Resolve data rights, define splits, annotate with domain experts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97F54-C189-42EC-8633-BA48D526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7143A-F97B-4202-941C-1B9A4B2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THEN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F519B-3D5F-4725-A947-92AB81C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Model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55998-1FBD-4EA8-B672-4B9BC838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Compare DeBERTa classifier and Qwen 2.5 1.5B QLoRA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DC3E3-15CD-455A-9E04-38AB4C0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D5A78-AD3D-42F7-B52C-72F778F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909C2-BD29-4F17-BBC5-E8B402D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Safe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CAB2A-26B8-4190-987C-4444F39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Promote only after held-out evaluation and model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21DEC-ED56-4F5E-A967-4FDBA2D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52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PRIMARY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524F6-3730-48FA-9298-200599F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07d2e19a8f5a465c"/>
              </a:rPr>
              <a:t>SafeOCS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928F9-B501-4579-820E-FEC7AA9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Near-miss and offshore precursor data program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89173-6EB8-496F-AA35-AF7E08DC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210c7a298afb4e86"/>
              </a:rPr>
              <a:t>IOGP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3E8C0-CCCB-4A45-B3FB-48CB77F7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Process safety indicators and Life-Saving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D092C-B2DD-4F85-9B8C-DD6C7CB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b1cf5fbe1add4599"/>
              </a:rPr>
              <a:t>Baker et 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77775-1C88-45AF-9A4E-55505079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Learning injury precursors from raw 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3612E-300E-41F3-86E4-41B5F0D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e1f849859d9c4485"/>
              </a:rPr>
              <a:t>Petrobras 3W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4437A-BA04-4B81-B5AB-654B1BE1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Public benchmark for undesirable oil-well 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4C84D-A160-4354-82F0-F74BD1E0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57725"/>
            <a:ext cx="531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1BF0B-8751-4CDB-8BC0-24EE13A0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ADD BEFORE UPLOAD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E4D18-47D4-463E-95EE-66DD59D6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2571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B5BF7-6AEC-43E0-8FDE-76225B77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95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LIVE DEMO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F2F29-0084-4319-AAFE-AC098D4A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91125"/>
            <a:ext cx="2571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DE694-4243-4848-9A39-7AF0FF5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95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VIDEO GUIDE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0F4A8F-31F2-4085-8CA0-5B3656A9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95975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00" b="1">
                <a:solidFill>
                  <a:srgbClr val="13201E"/>
                </a:solidFill>
              </a:rPr>
              <a:t>GitHub  </a:t>
            </a:r>
            <a:r>
              <a:rPr sz="1200" u="sng">
                <a:solidFill>
                  <a:srgbClr val="4562BF"/>
                </a:solidFill>
                <a:hlinkClick xmlns:r="http://schemas.openxmlformats.org/officeDocument/2006/relationships" r:id="R231c46b306db4dd5"/>
              </a:rPr>
              <a:t>github.com/harshit-164/Rakshak-AI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41B10E-B08C-456D-B2EE-B946D8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D2108-8E86-44CB-81B0-C11A587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8786D-CF89-42E7-B51C-93380C98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2588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2026-09-07T16:54:02.8190000Z</dcterms:created>
  <dcterms:modified xsi:type="dcterms:W3CDTF">2026-09-07T16:54:02.8190000Z</dcterms:modified>
</coreProperties>
</file>